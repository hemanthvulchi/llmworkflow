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2"/>
  </p:notesMasterIdLst>
  <p:handoutMasterIdLst>
    <p:handoutMasterId r:id="rId13"/>
  </p:handoutMasterIdLst>
  <p:sldIdLst>
    <p:sldId id="410" r:id="rId5"/>
    <p:sldId id="383" r:id="rId6"/>
    <p:sldId id="409" r:id="rId7"/>
    <p:sldId id="391" r:id="rId8"/>
    <p:sldId id="397" r:id="rId9"/>
    <p:sldId id="408" r:id="rId10"/>
    <p:sldId id="4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6327" autoAdjust="0"/>
  </p:normalViewPr>
  <p:slideViewPr>
    <p:cSldViewPr snapToGrid="0">
      <p:cViewPr varScale="1">
        <p:scale>
          <a:sx n="114" d="100"/>
          <a:sy n="114" d="100"/>
        </p:scale>
        <p:origin x="102"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6/16/2024</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6/16/2024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73043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501160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Basic presentation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r>
              <a:rPr lang="en-US" dirty="0"/>
              <a:t>Introduction</a:t>
            </a:r>
          </a:p>
          <a:p>
            <a:r>
              <a:rPr lang="en-US" dirty="0"/>
              <a:t>Key Findings</a:t>
            </a:r>
          </a:p>
          <a:p>
            <a:r>
              <a:rPr lang="en-US" dirty="0"/>
              <a:t>Detailed Findings</a:t>
            </a:r>
          </a:p>
          <a:p>
            <a:r>
              <a:rPr lang="en-US" dirty="0"/>
              <a:t>Recommendations</a:t>
            </a:r>
          </a:p>
          <a:p>
            <a:r>
              <a:rPr lang="en-US" dirty="0"/>
              <a:t>Conclusion</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up of a plant">
            <a:extLst>
              <a:ext uri="{FF2B5EF4-FFF2-40B4-BE49-F238E27FC236}">
                <a16:creationId xmlns:a16="http://schemas.microsoft.com/office/drawing/2014/main" id="{8DB431A1-9806-9CFE-0E5F-1A5611C2A66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3" r="23"/>
          <a:stretch/>
        </p:blipFill>
        <p:spPr>
          <a:xfrm>
            <a:off x="0" y="0"/>
            <a:ext cx="12192000" cy="6880225"/>
          </a:xfrm>
        </p:spPr>
      </p:pic>
      <p:sp>
        <p:nvSpPr>
          <p:cNvPr id="3" name="Title 2">
            <a:extLst>
              <a:ext uri="{FF2B5EF4-FFF2-40B4-BE49-F238E27FC236}">
                <a16:creationId xmlns:a16="http://schemas.microsoft.com/office/drawing/2014/main" id="{9C37279A-330D-886F-340D-494A5005E5FC}"/>
              </a:ext>
            </a:extLst>
          </p:cNvPr>
          <p:cNvSpPr>
            <a:spLocks noGrp="1"/>
          </p:cNvSpPr>
          <p:nvPr>
            <p:ph type="title"/>
          </p:nvPr>
        </p:nvSpPr>
        <p:spPr>
          <a:xfrm>
            <a:off x="6309359" y="444933"/>
            <a:ext cx="5477479" cy="3291840"/>
          </a:xfrm>
        </p:spPr>
        <p:txBody>
          <a:bodyPr/>
          <a:lstStyle/>
          <a:p>
            <a:r>
              <a:rPr lang="en-US" dirty="0"/>
              <a:t>Introduction and Purpose</a:t>
            </a:r>
          </a:p>
        </p:txBody>
      </p:sp>
    </p:spTree>
    <p:extLst>
      <p:ext uri="{BB962C8B-B14F-4D97-AF65-F5344CB8AC3E}">
        <p14:creationId xmlns:p14="http://schemas.microsoft.com/office/powerpoint/2010/main" val="224937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Engaging the audience</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426720" y="2366582"/>
            <a:ext cx="7810500" cy="3700462"/>
          </a:xfrm>
        </p:spPr>
        <p:txBody>
          <a:bodyPr>
            <a:normAutofit/>
          </a:bodyPr>
          <a:lstStyle/>
          <a:p>
            <a:r>
              <a:rPr lang="en-US" dirty="0"/>
              <a:t>The Information Security Assessment report, conducted by Securance Consulting and presented to the Legislative Audit Committee, evaluates the security practices of the Governor’s Office of Information Technology (OIT) and the Judicial Branch. The audit aims to identify security vulnerabilities and provide recommendations for improvement to ensure the confidentiality, integrity, and availability of </a:t>
            </a:r>
            <a:r>
              <a:rPr lang="en-US"/>
              <a:t>state-managed information</a:t>
            </a:r>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a:lstStyle/>
          <a:p>
            <a:r>
              <a:rPr lang="en-US" b="1" dirty="0"/>
              <a:t>2. Key Findings</a:t>
            </a:r>
            <a:endParaRPr lang="en-US" dirty="0"/>
          </a:p>
        </p:txBody>
      </p:sp>
      <p:sp>
        <p:nvSpPr>
          <p:cNvPr id="3" name="Text Placeholder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a:normAutofit/>
          </a:bodyPr>
          <a:lstStyle/>
          <a:p>
            <a:r>
              <a:rPr lang="en-US" dirty="0"/>
              <a:t>Enhancing your presentation</a:t>
            </a:r>
          </a:p>
        </p:txBody>
      </p:sp>
    </p:spTree>
    <p:extLst>
      <p:ext uri="{BB962C8B-B14F-4D97-AF65-F5344CB8AC3E}">
        <p14:creationId xmlns:p14="http://schemas.microsoft.com/office/powerpoint/2010/main" val="203905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137921"/>
            <a:ext cx="9778365" cy="1494596"/>
          </a:xfrm>
        </p:spPr>
        <p:txBody>
          <a:bodyPr/>
          <a:lstStyle/>
          <a:p>
            <a:r>
              <a:rPr lang="en-US" b="1" dirty="0"/>
              <a:t>Technical Security Vulnerabilities:</a:t>
            </a:r>
            <a:endParaRPr lang="en-US" dirty="0"/>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280285"/>
            <a:ext cx="4490827" cy="3597470"/>
          </a:xfrm>
        </p:spPr>
        <p:txBody>
          <a:bodyPr>
            <a:normAutofit/>
          </a:bodyPr>
          <a:lstStyle/>
          <a:p>
            <a:r>
              <a:rPr lang="en-US" dirty="0"/>
              <a:t>The OIT oversees information security for all Executive Branch agencies. The audit identified 243 technical vulnerabilities categorized by the Common Vulnerability Scoring System (CVSS V2):</a:t>
            </a:r>
          </a:p>
          <a:p>
            <a:pPr lvl="1"/>
            <a:r>
              <a:rPr lang="en-US" dirty="0"/>
              <a:t>0 Urgent</a:t>
            </a:r>
          </a:p>
          <a:p>
            <a:pPr lvl="1"/>
            <a:r>
              <a:rPr lang="en-US" dirty="0"/>
              <a:t>27 Critical</a:t>
            </a:r>
          </a:p>
          <a:p>
            <a:pPr lvl="1"/>
            <a:r>
              <a:rPr lang="en-US" dirty="0"/>
              <a:t>74 High</a:t>
            </a:r>
          </a:p>
          <a:p>
            <a:pPr lvl="1"/>
            <a:r>
              <a:rPr lang="en-US" dirty="0"/>
              <a:t>142 Medium</a:t>
            </a:r>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6229370" y="2335149"/>
            <a:ext cx="4490827" cy="3597470"/>
          </a:xfrm>
        </p:spPr>
        <p:txBody>
          <a:bodyPr/>
          <a:lstStyle/>
          <a:p>
            <a:r>
              <a:rPr lang="en-US" dirty="0"/>
              <a:t>The Judicial Branch, responsible for its own security, had 9 vulnerabilities:</a:t>
            </a:r>
          </a:p>
          <a:p>
            <a:pPr lvl="1"/>
            <a:r>
              <a:rPr lang="en-US" dirty="0"/>
              <a:t>0 Urgent</a:t>
            </a:r>
          </a:p>
          <a:p>
            <a:pPr lvl="1"/>
            <a:r>
              <a:rPr lang="en-US" dirty="0"/>
              <a:t>0 Critical</a:t>
            </a:r>
          </a:p>
          <a:p>
            <a:pPr lvl="1"/>
            <a:r>
              <a:rPr lang="en-US" dirty="0"/>
              <a:t>3 High</a:t>
            </a:r>
          </a:p>
          <a:p>
            <a:pPr lvl="1"/>
            <a:r>
              <a:rPr lang="en-US" dirty="0"/>
              <a:t>6 Medium</a:t>
            </a:r>
          </a:p>
          <a:p>
            <a:pPr lvl="1"/>
            <a:r>
              <a:rPr lang="en-US" dirty="0" err="1"/>
              <a:t>sd</a:t>
            </a:r>
            <a:endParaRPr lang="en-US" dirty="0"/>
          </a:p>
        </p:txBody>
      </p:sp>
      <p:sp>
        <p:nvSpPr>
          <p:cNvPr id="15" name="TextBox 14">
            <a:extLst>
              <a:ext uri="{FF2B5EF4-FFF2-40B4-BE49-F238E27FC236}">
                <a16:creationId xmlns:a16="http://schemas.microsoft.com/office/drawing/2014/main" id="{8B2F5250-637D-FBDB-AC3C-C5625607CA81}"/>
              </a:ext>
            </a:extLst>
          </p:cNvPr>
          <p:cNvSpPr txBox="1"/>
          <p:nvPr/>
        </p:nvSpPr>
        <p:spPr>
          <a:xfrm>
            <a:off x="2964180" y="5448305"/>
            <a:ext cx="9227820" cy="1077218"/>
          </a:xfrm>
          <a:prstGeom prst="rect">
            <a:avLst/>
          </a:prstGeom>
          <a:noFill/>
        </p:spPr>
        <p:txBody>
          <a:bodyPr wrap="square" rtlCol="0">
            <a:spAutoFit/>
          </a:bodyPr>
          <a:lstStyle/>
          <a:p>
            <a:r>
              <a:rPr lang="en-US" sz="1600" b="1" dirty="0">
                <a:solidFill>
                  <a:schemeClr val="bg1"/>
                </a:solidFill>
              </a:rPr>
              <a:t>Disaster Recovery Planning</a:t>
            </a:r>
            <a:r>
              <a:rPr lang="en-US" sz="1600" dirty="0">
                <a:solidFill>
                  <a:schemeClr val="bg1"/>
                </a:solidFill>
              </a:rPr>
              <a:t>: Neither OIT nor the Judicial Branch has disaster recovery plans for critical enterprise applications.</a:t>
            </a:r>
          </a:p>
          <a:p>
            <a:r>
              <a:rPr lang="en-US" sz="1600" b="1" dirty="0">
                <a:solidFill>
                  <a:schemeClr val="bg1"/>
                </a:solidFill>
              </a:rPr>
              <a:t>Logical Access Controls</a:t>
            </a:r>
            <a:r>
              <a:rPr lang="en-US" sz="1600" dirty="0">
                <a:solidFill>
                  <a:schemeClr val="bg1"/>
                </a:solidFill>
              </a:rPr>
              <a:t>: Both OIT and the Judicial Branch need to improve access controls for enterprise applications.</a:t>
            </a:r>
          </a:p>
        </p:txBody>
      </p:sp>
    </p:spTree>
    <p:extLst>
      <p:ext uri="{BB962C8B-B14F-4D97-AF65-F5344CB8AC3E}">
        <p14:creationId xmlns:p14="http://schemas.microsoft.com/office/powerpoint/2010/main" val="88848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dirty="0"/>
              <a:t>Detailed Findings</a:t>
            </a:r>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466725" y="228600"/>
            <a:ext cx="6139815" cy="6217920"/>
          </a:xfrm>
        </p:spPr>
        <p:txBody>
          <a:bodyPr>
            <a:normAutofit fontScale="92500" lnSpcReduction="20000"/>
          </a:bodyPr>
          <a:lstStyle/>
          <a:p>
            <a:pPr>
              <a:buFont typeface="Arial" panose="020B0604020202020204" pitchFamily="34" charset="0"/>
              <a:buChar char="•"/>
            </a:pPr>
            <a:r>
              <a:rPr lang="en-US" dirty="0"/>
              <a:t>IT Organization and Security Governance:</a:t>
            </a:r>
          </a:p>
          <a:p>
            <a:pPr lvl="1">
              <a:buFont typeface="Arial" panose="020B0604020202020204" pitchFamily="34" charset="0"/>
              <a:buChar char="•"/>
            </a:pPr>
            <a:r>
              <a:rPr lang="en-US" dirty="0"/>
              <a:t>The OIT, established in 2008, centralized IT management across Executive Branch agencies to improve efficiency and security. The Judicial Branch manages its own IT services through its division.</a:t>
            </a:r>
          </a:p>
          <a:p>
            <a:pPr lvl="1">
              <a:buFont typeface="Arial" panose="020B0604020202020204" pitchFamily="34" charset="0"/>
              <a:buChar char="•"/>
            </a:pPr>
            <a:r>
              <a:rPr lang="en-US" dirty="0"/>
              <a:t>The Colorado Cyber Security Program, codified in state law, aims to enhance the security posture of state agencies through coordinated efforts.</a:t>
            </a:r>
          </a:p>
          <a:p>
            <a:pPr>
              <a:buFont typeface="Arial" panose="020B0604020202020204" pitchFamily="34" charset="0"/>
              <a:buChar char="•"/>
            </a:pPr>
            <a:r>
              <a:rPr lang="en-US" dirty="0"/>
              <a:t>Security Vulnerabilities:</a:t>
            </a:r>
          </a:p>
          <a:p>
            <a:pPr lvl="1">
              <a:buFont typeface="Arial" panose="020B0604020202020204" pitchFamily="34" charset="0"/>
              <a:buChar char="•"/>
            </a:pPr>
            <a:r>
              <a:rPr lang="en-US" dirty="0"/>
              <a:t>Multiple vulnerabilities were found within the state’s networks and systems. For example, several external servers are outdated and vulnerable due to lack of vendor support. Internal network systems also had issues like default passwords for root accounts.</a:t>
            </a:r>
          </a:p>
          <a:p>
            <a:pPr lvl="1">
              <a:buFont typeface="Arial" panose="020B0604020202020204" pitchFamily="34" charset="0"/>
              <a:buChar char="•"/>
            </a:pPr>
            <a:r>
              <a:rPr lang="en-US" dirty="0"/>
              <a:t>Database configurations were not aligned with industry standards, and OIT staff lacked awareness of the governance framework.</a:t>
            </a:r>
          </a:p>
          <a:p>
            <a:pPr>
              <a:buFont typeface="Arial" panose="020B0604020202020204" pitchFamily="34" charset="0"/>
              <a:buChar char="•"/>
            </a:pPr>
            <a:r>
              <a:rPr lang="en-US" dirty="0"/>
              <a:t>Disaster Recovery </a:t>
            </a:r>
            <a:r>
              <a:rPr lang="en-US" dirty="0" err="1"/>
              <a:t>Planning:Disaster</a:t>
            </a:r>
            <a:r>
              <a:rPr lang="en-US" dirty="0"/>
              <a:t> recovery plans were absent for</a:t>
            </a:r>
          </a:p>
        </p:txBody>
      </p:sp>
    </p:spTree>
    <p:extLst>
      <p:ext uri="{BB962C8B-B14F-4D97-AF65-F5344CB8AC3E}">
        <p14:creationId xmlns:p14="http://schemas.microsoft.com/office/powerpoint/2010/main" val="3088225330"/>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6</TotalTime>
  <Words>329</Words>
  <Application>Microsoft Office PowerPoint</Application>
  <PresentationFormat>Widescreen</PresentationFormat>
  <Paragraphs>41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Franklin Gothic Book</vt:lpstr>
      <vt:lpstr>Franklin Gothic Demi</vt:lpstr>
      <vt:lpstr>Custom</vt:lpstr>
      <vt:lpstr>Basic presentation</vt:lpstr>
      <vt:lpstr>Agenda</vt:lpstr>
      <vt:lpstr>Introduction and Purpose</vt:lpstr>
      <vt:lpstr>Engaging the audience</vt:lpstr>
      <vt:lpstr>2. Key Findings</vt:lpstr>
      <vt:lpstr>Technical Security Vulnerabilities:</vt:lpstr>
      <vt:lpstr>Detailed 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Hemanth Vulchi</dc:creator>
  <cp:lastModifiedBy>Hemanth Vulchi</cp:lastModifiedBy>
  <cp:revision>2</cp:revision>
  <dcterms:created xsi:type="dcterms:W3CDTF">2024-05-19T00:09:19Z</dcterms:created>
  <dcterms:modified xsi:type="dcterms:W3CDTF">2024-06-16T21:44:08Z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